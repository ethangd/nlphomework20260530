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99530-38DD-EBDB-BBDC-8071A00E7E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720840"/>
            <a:ext cx="12188952" cy="13716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" cy="4114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169E1"/>
                </a:solidFill>
                <a:latin typeface="Microsoft JhengHei"/>
              </a:defRPr>
            </a:pPr>
            <a:r>
              <a:t>OpenClaw FAQ 智能問答系統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90FF"/>
                </a:solidFill>
                <a:latin typeface="Microsoft JhengHei"/>
              </a:defRPr>
            </a:pPr>
            <a:r>
              <a:t>基於 Qwen3.5-0.8B-Base 的 LoRA 微調實踐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JhengHei"/>
              </a:defRPr>
            </a:pPr>
            <a:r>
              <a:t>NLP 微調項目報告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80"/>
            <a:ext cx="3657600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項目概述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目標：對 Qwen3.5-0.8B-Base 進行指令微調，使其掌握 OpenClaw 產品的 FAQ 知識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資料：208 組人工整理的 OpenClaw 問答對（中英文混合）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方法：使用 LoRA（Low-Rank Adaptation）進行參數高效微調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基礎模型：Qwen3.5-0.8B-Base（8.6 億參數，支援多模態）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訓練資源：單張 NVIDIA L20（48GB）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服務化：提供 OpenAI 兼容 API，支援即時問答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2560320" cy="137160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模型大小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69E1"/>
                </a:solidFill>
                <a:latin typeface="Microsoft JhengHei"/>
              </a:defRPr>
            </a:pPr>
            <a:r>
              <a:t>0.8B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754880"/>
            <a:ext cx="2560320" cy="137160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訓練資料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69E1"/>
                </a:solidFill>
                <a:latin typeface="Microsoft JhengHei"/>
              </a:defRPr>
            </a:pPr>
            <a:r>
              <a:t>207筆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754880"/>
            <a:ext cx="2560320" cy="137160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LoRA 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69E1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754880"/>
            <a:ext cx="2560320" cy="137160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訓練輪次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69E1"/>
                </a:solidFill>
                <a:latin typeface="Microsoft Jheng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基礎模型：Qwen3.5-0.8B-Base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架構：混合注意力機制（Hybrid Attention）— 18層 Linear Attention + 6層 Full Attention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上下文長度：最高 262,144 tokens（超長上下文支援）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詞表大小：248,320 tokens，支援中英文混合輸入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多模態：支援文字 + 圖片 + 影片輸入（本項目僅使用文字）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JhengHei"/>
              </a:defRPr>
            </a:pPr>
            <a:r>
              <a:t>  MTP（Multi-Token Prediction）：支援多 token 同時預測，提升推理效率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27432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24層 Decoder：6層 Full Attention</a:t>
            </a:r>
            <a:br/>
            <a:r>
              <a:t>18層 Linear 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27432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嵌入維度：1024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27432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注意力頭：8 heads, KV 2 heads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72200"/>
            <a:ext cx="27432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JhengHei"/>
              </a:defRPr>
            </a:pPr>
            <a:r>
              <a:t>MLP：Gate/SiLU 門控結構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資料集說明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來源：OpenClaw 官方 FAQ 文檔及社群常見問題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總量：208 條 QA 對（過濾後 207 條有效）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訓練集：175 條（85%）   驗證集：32 條（15%）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覆蓋範圍：安裝部署、模型配置、管道集成、記憶系統、安全性、故障排除等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資料格式：問題（query）+ 答案（pos），中英文混合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範例：</a:t>
            </a:r>
            <a:br/>
            <a:r>
              <a:t>     Q：OpenClaw 要錢嗎？</a:t>
            </a:r>
            <a:br/>
            <a:r>
              <a:t>     A：OpenClaw 軟體本身完全免費且開源...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LoRA 微調方法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LoRA（Low-Rank Adaptation）— 在原始權重旁插入低秩矩陣，僅訓練新增參數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目標模組：q_proj, k_proj, v_proj, o_proj（注意力層）+ gate/up/down_proj（MLP層）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LoRA 配置： rank=8, alpha=16, dropout=0.05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只訓練語言模型部分，凍結視覺編碼器（Vision Encoder）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訓練參數：約 319 萬（僅佔總參數的 0.37%）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優化器：AdamW（lr=2e-4, weight_decay=0.01）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JhengHei"/>
              </a:defRPr>
            </a:pPr>
            <a:r>
              <a:t>  排程：線性 warmup（10%）+ 線性衰減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058400" cy="91440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69E1"/>
                </a:solidFill>
                <a:latin typeface="Microsoft JhengHei"/>
              </a:defRPr>
            </a:pPr>
            <a:r>
              <a:t>W = W₀ + ΔW         ΔW = B × A         B ∈ ℝ^(d×r), A ∈ ℝ^(r×k), r ≪ min(d, 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訓練損失曲線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4008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840480" cy="5029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Train Loss 持續下降至 ~0.013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11680"/>
            <a:ext cx="3840480" cy="5029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Val Loss 第3輪達最低 0.76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51760"/>
            <a:ext cx="3840480" cy="502920"/>
          </a:xfrm>
          <a:prstGeom prst="round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之後 Val Loss 反彈 → 過擬合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評估與問題分析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val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4846320"/>
            <a:ext cx="73152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問題一：過擬合：Val Loss 在第 3-4 輪後反彈，模型死記訓練集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73152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問題二：重複生成：部分輸出陷入重複循環（如重複問題本身）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73152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問題三：幻覺：模型輸出與 OpenClaw 無關的錯誤知識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73152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問題四：領域泛化不足：207 筆資料無法覆蓋足夠多的問法變體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69E1"/>
                </a:solidFill>
                <a:latin typeface="Microsoft JhengHei"/>
              </a:defRPr>
            </a:pPr>
            <a:r>
              <a:t>改進方向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增加資料量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目標 500-1000 筆，涵蓋更多問法變體和邊界情況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資料擴增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使用 LLM 將現有 QA 對改寫為不同表述，提升泛化性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降低 LoRA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r=4, alpha=8，減少過擬合風險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Early Stopping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設置 patience=3，val loss 不改善即停止訓練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提高 Dropout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LoRA dropout 從 0.05 提高到 0.1-0.2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72000"/>
            <a:ext cx="5029200" cy="11887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69E1"/>
                </a:solidFill>
                <a:latin typeface="Microsoft JhengHei"/>
              </a:defRPr>
            </a:pPr>
            <a:r>
              <a:t>QLoRA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206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JhengHei"/>
              </a:defRPr>
            </a:pPr>
            <a:r>
              <a:t>使用 4-bit 量化 + LoRA，可用更大 batch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2926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2926080"/>
            <a:ext cx="12188952" cy="393192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Microsoft JhengHei"/>
              </a:defRPr>
            </a:pPr>
            <a:r>
              <a:t>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Microsoft JhengHei"/>
              </a:defRPr>
            </a:pPr>
            <a:r>
              <a:t>從資料收集 → LoRA 微調 → 評估分析 → API 部署，完整 NLP 模型迭代流程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JhengHei"/>
              </a:defRPr>
            </a:pPr>
            <a:r>
              <a:t>✓ 成功完成 Qwen3.5-0.8B 在 OpenClaw FAQ 上的 LoRA 微調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8620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JhengHei"/>
              </a:defRPr>
            </a:pPr>
            <a:r>
              <a:t>✓ Train Loss 從 2.93 降至 0.013，模型有效學習了訓練資料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480560"/>
            <a:ext cx="54864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⚠ Val Loss 第 4 輪後反彈，存在過擬合問題需改進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07492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✓ 提供 OpenAI 兼容 API，可直接整合到 agent 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669280"/>
            <a:ext cx="54864" cy="41148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→ 下一步：擴充資料集 + 調整超參數 + 嘗試 QLoRA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4d09258-035b-4e4f-ae3e-d79ff3d418d8}" enabled="1" method="Standard" siteId="{f4a12867-922d-4b9d-bb85-9ee7898512a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Custom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陈燕松</cp:lastModifiedBy>
  <cp:revision>2</cp:revision>
  <dcterms:created xsi:type="dcterms:W3CDTF">2013-01-27T09:14:16Z</dcterms:created>
  <dcterms:modified xsi:type="dcterms:W3CDTF">2026-05-30T10:37:52Z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General</vt:lpwstr>
  </property>
</Properties>
</file>